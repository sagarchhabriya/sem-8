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</p:sldMasterIdLst>
  <p:notesMasterIdLst>
    <p:notesMasterId r:id="rId27"/>
  </p:notesMasterIdLst>
  <p:handoutMasterIdLst>
    <p:handoutMasterId r:id="rId28"/>
  </p:handoutMasterIdLst>
  <p:sldIdLst>
    <p:sldId id="256" r:id="rId3"/>
    <p:sldId id="315" r:id="rId4"/>
    <p:sldId id="316" r:id="rId5"/>
    <p:sldId id="317" r:id="rId6"/>
    <p:sldId id="318" r:id="rId7"/>
    <p:sldId id="319" r:id="rId8"/>
    <p:sldId id="320" r:id="rId9"/>
    <p:sldId id="322" r:id="rId10"/>
    <p:sldId id="323" r:id="rId11"/>
    <p:sldId id="324" r:id="rId12"/>
    <p:sldId id="327" r:id="rId13"/>
    <p:sldId id="326" r:id="rId14"/>
    <p:sldId id="328" r:id="rId15"/>
    <p:sldId id="329" r:id="rId16"/>
    <p:sldId id="330" r:id="rId17"/>
    <p:sldId id="332" r:id="rId18"/>
    <p:sldId id="331" r:id="rId19"/>
    <p:sldId id="333" r:id="rId20"/>
    <p:sldId id="334" r:id="rId21"/>
    <p:sldId id="335" r:id="rId22"/>
    <p:sldId id="336" r:id="rId23"/>
    <p:sldId id="337" r:id="rId24"/>
    <p:sldId id="340" r:id="rId25"/>
    <p:sldId id="338" r:id="rId26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3" autoAdjust="0"/>
    <p:restoredTop sz="94660"/>
  </p:normalViewPr>
  <p:slideViewPr>
    <p:cSldViewPr>
      <p:cViewPr varScale="1">
        <p:scale>
          <a:sx n="70" d="100"/>
          <a:sy n="70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F0F8C-53A7-445A-8B28-FD653297358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7C4F2-7EDC-4D62-BF85-C7A6CB47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99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6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 l="-9000" r="-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1534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143000" y="3048000"/>
            <a:ext cx="71628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Our Vision is Optimized to See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Structure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Chapter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2)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Lecture 9-10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Gestalt – German word</a:t>
            </a:r>
          </a:p>
          <a:p>
            <a:pPr lvl="1"/>
            <a:r>
              <a:rPr lang="en-US" dirty="0" smtClean="0"/>
              <a:t>Meaning: Figure / shape</a:t>
            </a:r>
          </a:p>
          <a:p>
            <a:r>
              <a:rPr lang="en-US" dirty="0" smtClean="0"/>
              <a:t>Human visual perception</a:t>
            </a:r>
          </a:p>
          <a:p>
            <a:r>
              <a:rPr lang="en-US" dirty="0" smtClean="0"/>
              <a:t>Gestalt principles/theories</a:t>
            </a:r>
          </a:p>
          <a:p>
            <a:pPr lvl="1"/>
            <a:r>
              <a:rPr lang="en-US" dirty="0" smtClean="0"/>
              <a:t>Descriptive framework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Proximity [1/5]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relative distance between objects</a:t>
            </a:r>
          </a:p>
          <a:p>
            <a:r>
              <a:rPr lang="en-US" dirty="0" smtClean="0"/>
              <a:t>Perception about object organization</a:t>
            </a:r>
          </a:p>
          <a:p>
            <a:r>
              <a:rPr lang="en-US" dirty="0" smtClean="0"/>
              <a:t>Layout of control panels and data forms</a:t>
            </a:r>
          </a:p>
          <a:p>
            <a:r>
              <a:rPr lang="en-US" dirty="0" smtClean="0"/>
              <a:t>Group boxes / separator lines</a:t>
            </a:r>
          </a:p>
          <a:p>
            <a:r>
              <a:rPr lang="en-US" dirty="0" smtClean="0"/>
              <a:t>If not properly grouped</a:t>
            </a:r>
          </a:p>
          <a:p>
            <a:pPr lvl="1"/>
            <a:r>
              <a:rPr lang="en-US" dirty="0" smtClean="0"/>
              <a:t>Confusion / frustration</a:t>
            </a:r>
          </a:p>
          <a:p>
            <a:endParaRPr lang="en-US" dirty="0" smtClean="0"/>
          </a:p>
          <a:p>
            <a:r>
              <a:rPr lang="en-US" b="1" dirty="0"/>
              <a:t>Proximity</a:t>
            </a:r>
            <a:r>
              <a:rPr lang="en-US" dirty="0"/>
              <a:t> in HCI means </a:t>
            </a:r>
            <a:r>
              <a:rPr lang="en-US" b="1" dirty="0"/>
              <a:t>placing related items close together</a:t>
            </a:r>
            <a:r>
              <a:rPr lang="en-US" dirty="0"/>
              <a:t> in an interface so users naturally understand they belong to the same group.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[2/5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2486025"/>
            <a:ext cx="6257925" cy="3032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8624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[3/5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12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576388"/>
            <a:ext cx="4881562" cy="4932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589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[4/5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13</a:t>
            </a: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33588"/>
            <a:ext cx="6365446" cy="391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42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Proximity </a:t>
            </a:r>
            <a:r>
              <a:rPr lang="en-US" dirty="0" smtClean="0"/>
              <a:t>[5/5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13</a:t>
            </a: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779" y="2490788"/>
            <a:ext cx="6477821" cy="299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20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Objects that look similar appear grouped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14</a:t>
            </a:r>
            <a:endParaRPr lang="en-US" sz="9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454137"/>
            <a:ext cx="3829050" cy="37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49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14</a:t>
            </a:r>
            <a:endParaRPr lang="en-US" sz="9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63211"/>
            <a:ext cx="5791200" cy="4208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904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15</a:t>
            </a:r>
            <a:endParaRPr lang="en-US" sz="9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89131"/>
            <a:ext cx="5610225" cy="4535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4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[1/3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Visual perception is biased towards continuous form</a:t>
            </a:r>
          </a:p>
          <a:p>
            <a:pPr lvl="1"/>
            <a:r>
              <a:rPr lang="en-US" dirty="0"/>
              <a:t>To resolve ambiguity or fill in missing data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067050"/>
            <a:ext cx="29337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3848100"/>
            <a:ext cx="38195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281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16</a:t>
            </a:r>
            <a:endParaRPr lang="en-US" sz="9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5" y="2943225"/>
            <a:ext cx="54768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13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17</a:t>
            </a:r>
            <a:endParaRPr lang="en-US" sz="9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95500"/>
            <a:ext cx="619724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87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Ability to close open figures</a:t>
            </a:r>
          </a:p>
          <a:p>
            <a:r>
              <a:rPr lang="en-US" dirty="0" smtClean="0"/>
              <a:t>Biased to see whole objects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2971800"/>
            <a:ext cx="587692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17</a:t>
            </a:r>
            <a:endParaRPr lang="en-US" sz="9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1676400"/>
            <a:ext cx="11049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278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</a:t>
            </a:r>
            <a:r>
              <a:rPr lang="en-US" dirty="0" smtClean="0"/>
              <a:t>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Tendency to parse complex scenes to reduce the complexity</a:t>
            </a:r>
          </a:p>
          <a:p>
            <a:r>
              <a:rPr lang="en-US" dirty="0" smtClean="0"/>
              <a:t>More than one possible interpretation</a:t>
            </a:r>
          </a:p>
          <a:p>
            <a:r>
              <a:rPr lang="en-US" b="1" dirty="0"/>
              <a:t>Symmetry</a:t>
            </a:r>
            <a:r>
              <a:rPr lang="en-US" dirty="0"/>
              <a:t> means </a:t>
            </a:r>
            <a:r>
              <a:rPr lang="en-US" b="1" dirty="0"/>
              <a:t>balanced and equal arrangement of parts</a:t>
            </a:r>
            <a:r>
              <a:rPr lang="en-US" dirty="0"/>
              <a:t> on both sides of a center line or axis.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4038600"/>
            <a:ext cx="71913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719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 </a:t>
            </a:r>
            <a:r>
              <a:rPr lang="en-US" dirty="0" smtClean="0"/>
              <a:t>[2/2]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19</a:t>
            </a:r>
            <a:endParaRPr lang="en-US" sz="9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1724025"/>
            <a:ext cx="6276975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15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[1/4]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Visual field is divided into figure (foreground) and ground (background)</a:t>
            </a:r>
          </a:p>
          <a:p>
            <a:r>
              <a:rPr lang="en-US" dirty="0" smtClean="0"/>
              <a:t>Primary attention on foreground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352800"/>
            <a:ext cx="30384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0570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[2/4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20</a:t>
            </a:r>
            <a:endParaRPr lang="en-US" sz="9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71675"/>
            <a:ext cx="6651431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25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[3/4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21</a:t>
            </a:r>
            <a:endParaRPr lang="en-US" sz="9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800225"/>
            <a:ext cx="70866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95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Figure/Ground </a:t>
            </a:r>
            <a:r>
              <a:rPr lang="en-US" dirty="0" smtClean="0"/>
              <a:t>[4/4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21</a:t>
            </a:r>
            <a:endParaRPr lang="en-US" sz="9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52613"/>
            <a:ext cx="7638490" cy="454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669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Perception of moving objects</a:t>
            </a:r>
          </a:p>
          <a:p>
            <a:r>
              <a:rPr lang="en-US" dirty="0" smtClean="0"/>
              <a:t>Objects that move together are perceived as group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67100"/>
            <a:ext cx="8075062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6438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[2/3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23</a:t>
            </a:r>
            <a:endParaRPr lang="en-US" sz="9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828800"/>
            <a:ext cx="59150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146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</a:t>
            </a:r>
            <a:r>
              <a:rPr lang="en-US" dirty="0"/>
              <a:t>Fate </a:t>
            </a:r>
            <a:r>
              <a:rPr lang="en-US" dirty="0" smtClean="0"/>
              <a:t>[3/3</a:t>
            </a:r>
            <a:r>
              <a:rPr lang="en-US" dirty="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24</a:t>
            </a:r>
            <a:endParaRPr lang="en-US" sz="9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793" y="2019300"/>
            <a:ext cx="5766807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651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Gestalt principles work together (rather than in isolation)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084696"/>
            <a:ext cx="5114925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Figure Source: Designing with the Mind in Mind, J. Johnson, 2</a:t>
            </a:r>
            <a:r>
              <a:rPr lang="en-US" sz="900" baseline="30000" dirty="0" smtClean="0"/>
              <a:t>nd</a:t>
            </a:r>
            <a:r>
              <a:rPr lang="en-US" sz="900" dirty="0" smtClean="0"/>
              <a:t> Ed. P. 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0350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AcademicPresentation3</Template>
  <TotalTime>0</TotalTime>
  <Words>687</Words>
  <Application>Microsoft Office PowerPoint</Application>
  <PresentationFormat>On-screen Show (4:3)</PresentationFormat>
  <Paragraphs>71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Tw Cen MT</vt:lpstr>
      <vt:lpstr>Wingdings</vt:lpstr>
      <vt:lpstr>Wingdings 2</vt:lpstr>
      <vt:lpstr>AcademicPresentation3</vt:lpstr>
      <vt:lpstr>Our Vision is Optimized to See Structure (Chapter 2) Lecture 9-10</vt:lpstr>
      <vt:lpstr>Introduction</vt:lpstr>
      <vt:lpstr>Proximity [1/5]</vt:lpstr>
      <vt:lpstr>Proximity [2/5]</vt:lpstr>
      <vt:lpstr>Proximity [3/5]</vt:lpstr>
      <vt:lpstr>Proximity [4/5]</vt:lpstr>
      <vt:lpstr>Proximity [5/5]</vt:lpstr>
      <vt:lpstr>Similarity [1/3]</vt:lpstr>
      <vt:lpstr>Similarity [2/3]</vt:lpstr>
      <vt:lpstr>Similarity [3/3]</vt:lpstr>
      <vt:lpstr>Continuity [1/3]</vt:lpstr>
      <vt:lpstr>Continuity [2/3]</vt:lpstr>
      <vt:lpstr>Continuity [3/3]</vt:lpstr>
      <vt:lpstr>Closure</vt:lpstr>
      <vt:lpstr>Symmetry [1/2]</vt:lpstr>
      <vt:lpstr>Symmetry [2/2]</vt:lpstr>
      <vt:lpstr>Figure/Ground [1/4]</vt:lpstr>
      <vt:lpstr>Figure/Ground [2/4]</vt:lpstr>
      <vt:lpstr>Figure/Ground [3/4]</vt:lpstr>
      <vt:lpstr>Figure/Ground [4/4]</vt:lpstr>
      <vt:lpstr>Common Fate [1/3]</vt:lpstr>
      <vt:lpstr>Common Fate [2/3]</vt:lpstr>
      <vt:lpstr>Common Fate [3/3]</vt:lpstr>
      <vt:lpstr>Combined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2026-02-11T04:03:32Z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